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2" d="100"/>
          <a:sy n="152" d="100"/>
        </p:scale>
        <p:origin x="604"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5955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[LAWS — 0:15]</a:t>
            </a:r>
          </a:p>
          <a:p>
            <a:r>
              <a:t>Hi, we're team Budget Buddy. I'm Laws, and with me are Kevin and Samana. Over the last semester we built a personal budgeting app focused on one question: am I on pace, or am I overspending? Here's what we built and how we got there.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[LAWS — 0:45]</a:t>
            </a:r>
          </a:p>
          <a:p>
            <a:r>
              <a:t>Most budgeting tools fall short the same way. They're scattered across disconnected places, they demand a lot of manual categorization, and they really only update you after the money has already been spent. The window where a budget can actually shape behavior is the moment of decision, not after. That's the window we set out to address.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[LAWS — 1:00]</a:t>
            </a:r>
          </a:p>
          <a:p>
            <a:r>
              <a:t>Budget Buddy tracks per-category monthly budgets and translates remaining dollars into a daily spending allowance. Instead of '$47 left' with no context, you see '$47 left, 2 days remaining, about $23 a day.' Alerts surface when a category is trending off-pace early enough to do something about it. The app is organized around five sections: Dashboard, Budgets, Transactions, Alerts, and Settings.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[LAWS — 1:00]</a:t>
            </a:r>
          </a:p>
          <a:p>
            <a:r>
              <a:t>Budget Buddy started not from a formal needfinding study but from a personal need I articulated in my M3 individual assignment. I'd tried Quicken, Mint, YNAB, Rocket Money, and a rotation of bank apps over the years and none of them were both real-time and all-inclusive in the way I wanted. Kevin and Samana joined the concept as a group project. In M5 I formalized that into the Sarah scenario — a 28-year-old saving for a vacation who needs to make in-the-moment spending decisions. The hand-drawn wireframes covered the Dashboard, the Clothing and Food budget screens with donut charts, and the post-purchase push notification. That's the foundation every later iteration built on. Over to Kevin.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[KEVIN — 1:15]</a:t>
            </a:r>
          </a:p>
          <a:p>
            <a:r>
              <a:t>Our first group iteration on Budget Buddy was the M6 usability study. We converted Laws's hand-drawn wireframes into interactive HTML and ran a think-aloud study with four participants. Each of us ran at least one session. We identified five usability issues. The three most consequential were that users had no way to preview how a purchase would affect a budget — they could only see it after the fact — that transaction labels were too vague to verify against real spending, and that the budget-creation flow had several confusing moments. Those three findings drove the M8 iteration.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[KEVIN — 1:00]</a:t>
            </a:r>
          </a:p>
          <a:p>
            <a:r>
              <a:t>M8 was a focused re-design pass that addressed three of the M6 findings. We added a Plan-a-Purchase card to each budget detail screen, so users can simulate a purchase and immediately see the projected balance. We replaced vague labels like 'Lunch' with merchant names. And we cleaned up the budget-creation flow — alert thresholds now show dollar amounts alongside percentages, and the New Budget button is now a clear primary CTA.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[KEVIN — 1:00]</a:t>
            </a:r>
          </a:p>
          <a:p>
            <a:r>
              <a:t>M9 was a structured self-critique against three principle sets: Site Design, Interaction Techniques, and Preventing Error. We identified seven weaknesses and tied each one to a specific principle. The most consequential fixes: the bottom navigation now highlights the active section, the budget-creation flow has a confirmation step before committing, and the budget cards now show daily allowance and days remaining alongside the raw remaining-dollar number. Over to Samana.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[SAMANA — 1:15]</a:t>
            </a:r>
          </a:p>
          <a:p>
            <a:r>
              <a:t>M10 was a second round of interaction critique focused on consistency and error prevention. We fixed dead-end navigation tabs, replaced duplicate Quick Actions with contextual shortcuts, made back-button labels match the navigation hierarchy, and added a warning when creating a budget for a category that already had one. M13 was the visual-design pass — critiqued against Mullet &amp; Sano and Tufte. Critical alerts are now visually dominant rather than blending in with status updates. We added a budget aggregate at the top of the Dashboard, threshold indicators on each donut, and explicit severity tags on alert cards so meaning survives without color.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[SAMANA — 1:15]</a:t>
            </a:r>
          </a:p>
          <a:p>
            <a:r>
              <a:t>TODO: Samana to record demo MP4 separately and embed on this slide. Narrate what the user sees and why it works. Three tasks: check budget before a purchase, create a new budget with the confirmation flow, and re-categorize a transaction.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[SAMANA — 0:30]</a:t>
            </a:r>
          </a:p>
          <a:p>
            <a:r>
              <a:t>Two main learnings. Every iteration that started with 'what principle is this violating?' produced clearer fixes than ones that started with 'what should we change?' And visual design was where the biggest perceived-quality gains happened — M9 and M10 fixed real bugs, but M13 is what made the app feel like something we'd want to use. With more time: real data via Plaid, predictive alerts, an accessibility audit, and the dedicated needfinding study we never ran.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 0:15]</a:t>
            </a:r>
          </a:p>
          <a:p>
            <a:r>
              <a:t>Thanks for watching. Happy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94560"/>
            <a:ext cx="164592" cy="246888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03120"/>
            <a:ext cx="10058400" cy="1371600"/>
          </a:xfrm>
          <a:prstGeom prst="rect">
            <a:avLst/>
          </a:prstGeom>
          <a:noFill/>
        </p:spPr>
        <p:txBody>
          <a:bodyPr wrap="square" lIns="0" tIns="0" rIns="0" bIns="0" anchor="t">
            <a:spAutoFit/>
          </a:bodyPr>
          <a:lstStyle/>
          <a:p>
            <a:pPr algn="l"/>
            <a:r>
              <a:rPr sz="8000" b="1">
                <a:solidFill>
                  <a:srgbClr val="FFFFFF"/>
                </a:solidFill>
                <a:latin typeface="Calibri"/>
              </a:rPr>
              <a:t>Budget Buddy</a:t>
            </a:r>
          </a:p>
        </p:txBody>
      </p:sp>
      <p:sp>
        <p:nvSpPr>
          <p:cNvPr id="5" name="TextBox 4"/>
          <p:cNvSpPr txBox="1"/>
          <p:nvPr/>
        </p:nvSpPr>
        <p:spPr>
          <a:xfrm>
            <a:off x="1188720" y="3383280"/>
            <a:ext cx="10058400" cy="640080"/>
          </a:xfrm>
          <a:prstGeom prst="rect">
            <a:avLst/>
          </a:prstGeom>
          <a:noFill/>
        </p:spPr>
        <p:txBody>
          <a:bodyPr wrap="square" lIns="0" tIns="0" rIns="0" bIns="0" anchor="t">
            <a:spAutoFit/>
          </a:bodyPr>
          <a:lstStyle/>
          <a:p>
            <a:pPr algn="l"/>
            <a:r>
              <a:rPr sz="2800" b="0">
                <a:solidFill>
                  <a:srgbClr val="CBD5E1"/>
                </a:solidFill>
                <a:latin typeface="Calibri"/>
              </a:rPr>
              <a:t>Stay on pace, not just on budget.</a:t>
            </a:r>
          </a:p>
        </p:txBody>
      </p:sp>
      <p:sp>
        <p:nvSpPr>
          <p:cNvPr id="6" name="TextBox 5"/>
          <p:cNvSpPr txBox="1"/>
          <p:nvPr/>
        </p:nvSpPr>
        <p:spPr>
          <a:xfrm>
            <a:off x="1188720" y="4389120"/>
            <a:ext cx="10058400" cy="365760"/>
          </a:xfrm>
          <a:prstGeom prst="rect">
            <a:avLst/>
          </a:prstGeom>
          <a:noFill/>
        </p:spPr>
        <p:txBody>
          <a:bodyPr wrap="square" lIns="0" tIns="0" rIns="0" bIns="0" anchor="t">
            <a:spAutoFit/>
          </a:bodyPr>
          <a:lstStyle/>
          <a:p>
            <a:pPr algn="l"/>
            <a:r>
              <a:rPr sz="1800" b="0">
                <a:solidFill>
                  <a:srgbClr val="CBD5E1"/>
                </a:solidFill>
                <a:latin typeface="Calibri"/>
              </a:rPr>
              <a:t>Laws Smith   ·   Kevin Le   ·   Samana Hussain</a:t>
            </a:r>
          </a:p>
        </p:txBody>
      </p:sp>
      <p:sp>
        <p:nvSpPr>
          <p:cNvPr id="7" name="TextBox 6"/>
          <p:cNvSpPr txBox="1"/>
          <p:nvPr/>
        </p:nvSpPr>
        <p:spPr>
          <a:xfrm>
            <a:off x="1188720" y="4846320"/>
            <a:ext cx="10058400" cy="365760"/>
          </a:xfrm>
          <a:prstGeom prst="rect">
            <a:avLst/>
          </a:prstGeom>
          <a:noFill/>
        </p:spPr>
        <p:txBody>
          <a:bodyPr wrap="square" lIns="0" tIns="0" rIns="0" bIns="0" anchor="t">
            <a:spAutoFit/>
          </a:bodyPr>
          <a:lstStyle/>
          <a:p>
            <a:pPr algn="l"/>
            <a:r>
              <a:rPr sz="1400" b="0">
                <a:solidFill>
                  <a:srgbClr val="64748B"/>
                </a:solidFill>
                <a:latin typeface="Calibri"/>
              </a:rPr>
              <a:t>SWE 632 — User Interface Design and Development   ·   Spring 2026</a:t>
            </a:r>
          </a:p>
        </p:txBody>
      </p:sp>
      <p:sp>
        <p:nvSpPr>
          <p:cNvPr id="8" name="TextBox 7"/>
          <p:cNvSpPr txBox="1"/>
          <p:nvPr/>
        </p:nvSpPr>
        <p:spPr>
          <a:xfrm>
            <a:off x="10515600" y="6400800"/>
            <a:ext cx="1371600" cy="365760"/>
          </a:xfrm>
          <a:prstGeom prst="rect">
            <a:avLst/>
          </a:prstGeom>
          <a:noFill/>
        </p:spPr>
        <p:txBody>
          <a:bodyPr wrap="square" lIns="0" tIns="0" rIns="0" bIns="0" anchor="t">
            <a:spAutoFit/>
          </a:bodyPr>
          <a:lstStyle/>
          <a:p>
            <a:pPr algn="r"/>
            <a:r>
              <a:rPr sz="1200" b="0">
                <a:solidFill>
                  <a:srgbClr val="64748B"/>
                </a:solidFill>
                <a:latin typeface="Calibri"/>
              </a:rPr>
              <a:t>01</a:t>
            </a:r>
          </a:p>
        </p:txBody>
      </p:sp>
      <p:pic>
        <p:nvPicPr>
          <p:cNvPr id="15" name="Audio 14">
            <a:hlinkClick r:id="" action="ppaction://media"/>
            <a:extLst>
              <a:ext uri="{FF2B5EF4-FFF2-40B4-BE49-F238E27FC236}">
                <a16:creationId xmlns:a16="http://schemas.microsoft.com/office/drawing/2014/main" id="{858812C2-0277-CE61-3B72-891E0EC73E1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0815"/>
    </mc:Choice>
    <mc:Fallback>
      <p:transition spd="slow" advTm="20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188720"/>
            <a:ext cx="5486400" cy="1828800"/>
          </a:xfrm>
          <a:prstGeom prst="rect">
            <a:avLst/>
          </a:prstGeom>
          <a:noFill/>
        </p:spPr>
        <p:txBody>
          <a:bodyPr wrap="square" lIns="0" tIns="0" rIns="0" bIns="0" anchor="t">
            <a:spAutoFit/>
          </a:bodyPr>
          <a:lstStyle/>
          <a:p>
            <a:pPr algn="l"/>
            <a:r>
              <a:rPr sz="18000" b="1">
                <a:solidFill>
                  <a:srgbClr val="FFFFFF"/>
                </a:solidFill>
                <a:latin typeface="Calibri"/>
              </a:rPr>
              <a:t>01</a:t>
            </a:r>
          </a:p>
        </p:txBody>
      </p:sp>
      <p:sp>
        <p:nvSpPr>
          <p:cNvPr id="4" name="TextBox 3"/>
          <p:cNvSpPr txBox="1"/>
          <p:nvPr/>
        </p:nvSpPr>
        <p:spPr>
          <a:xfrm>
            <a:off x="868680" y="3931920"/>
            <a:ext cx="10058400" cy="914400"/>
          </a:xfrm>
          <a:prstGeom prst="rect">
            <a:avLst/>
          </a:prstGeom>
          <a:noFill/>
        </p:spPr>
        <p:txBody>
          <a:bodyPr wrap="square" lIns="0" tIns="0" rIns="0" bIns="0" anchor="t">
            <a:spAutoFit/>
          </a:bodyPr>
          <a:lstStyle/>
          <a:p>
            <a:pPr algn="l"/>
            <a:r>
              <a:rPr sz="4400" b="1">
                <a:solidFill>
                  <a:srgbClr val="FFFFFF"/>
                </a:solidFill>
                <a:latin typeface="Calibri"/>
              </a:rPr>
              <a:t>The Project</a:t>
            </a:r>
          </a:p>
        </p:txBody>
      </p:sp>
      <p:sp>
        <p:nvSpPr>
          <p:cNvPr id="5" name="TextBox 4"/>
          <p:cNvSpPr txBox="1"/>
          <p:nvPr/>
        </p:nvSpPr>
        <p:spPr>
          <a:xfrm>
            <a:off x="868680" y="4846320"/>
            <a:ext cx="10058400" cy="457200"/>
          </a:xfrm>
          <a:prstGeom prst="rect">
            <a:avLst/>
          </a:prstGeom>
          <a:noFill/>
        </p:spPr>
        <p:txBody>
          <a:bodyPr wrap="square" lIns="0" tIns="0" rIns="0" bIns="0" anchor="t">
            <a:spAutoFit/>
          </a:bodyPr>
          <a:lstStyle/>
          <a:p>
            <a:pPr algn="l"/>
            <a:r>
              <a:rPr sz="2000" b="0">
                <a:solidFill>
                  <a:srgbClr val="FFFFFF"/>
                </a:solidFill>
                <a:latin typeface="Calibri"/>
              </a:rPr>
              <a:t>Presented by Laws Smith</a:t>
            </a:r>
          </a:p>
        </p:txBody>
      </p:sp>
      <p:sp>
        <p:nvSpPr>
          <p:cNvPr id="6" name="TextBox 5"/>
          <p:cNvSpPr txBox="1"/>
          <p:nvPr/>
        </p:nvSpPr>
        <p:spPr>
          <a:xfrm>
            <a:off x="10515600" y="6400800"/>
            <a:ext cx="1371600" cy="365760"/>
          </a:xfrm>
          <a:prstGeom prst="rect">
            <a:avLst/>
          </a:prstGeom>
          <a:noFill/>
        </p:spPr>
        <p:txBody>
          <a:bodyPr wrap="square" lIns="0" tIns="0" rIns="0" bIns="0" anchor="t">
            <a:spAutoFit/>
          </a:bodyPr>
          <a:lstStyle/>
          <a:p>
            <a:pPr algn="r"/>
            <a:r>
              <a:rPr sz="1200" b="0">
                <a:solidFill>
                  <a:srgbClr val="FFFFFF"/>
                </a:solidFill>
                <a:latin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The Problem</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LAWS</a:t>
            </a:r>
          </a:p>
        </p:txBody>
      </p:sp>
      <p:sp>
        <p:nvSpPr>
          <p:cNvPr id="5" name="Rectangle 4"/>
          <p:cNvSpPr/>
          <p:nvPr/>
        </p:nvSpPr>
        <p:spPr>
          <a:xfrm>
            <a:off x="548640" y="1097280"/>
            <a:ext cx="54864" cy="4572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Most budgeting apps fail at the moment that matters.</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Existing tools are scattered across disconnected places</a:t>
            </a:r>
          </a:p>
          <a:p>
            <a:pPr algn="l">
              <a:spcAft>
                <a:spcPts val="1000"/>
              </a:spcAft>
            </a:pPr>
            <a:r>
              <a:rPr sz="1800" b="1">
                <a:solidFill>
                  <a:srgbClr val="16A34A"/>
                </a:solidFill>
                <a:latin typeface="Calibri"/>
              </a:rPr>
              <a:t>•  </a:t>
            </a:r>
            <a:r>
              <a:rPr sz="1800">
                <a:solidFill>
                  <a:srgbClr val="334155"/>
                </a:solidFill>
                <a:latin typeface="Calibri"/>
              </a:rPr>
              <a:t>They demand too much manual categorization to stay accurate</a:t>
            </a:r>
          </a:p>
          <a:p>
            <a:pPr algn="l">
              <a:spcAft>
                <a:spcPts val="1000"/>
              </a:spcAft>
            </a:pPr>
            <a:r>
              <a:rPr sz="1800" b="1">
                <a:solidFill>
                  <a:srgbClr val="16A34A"/>
                </a:solidFill>
                <a:latin typeface="Calibri"/>
              </a:rPr>
              <a:t>•  </a:t>
            </a:r>
            <a:r>
              <a:rPr sz="1800">
                <a:solidFill>
                  <a:srgbClr val="334155"/>
                </a:solidFill>
                <a:latin typeface="Calibri"/>
              </a:rPr>
              <a:t>And they only update users after the money has already been spent</a:t>
            </a:r>
          </a:p>
          <a:p>
            <a:pPr algn="l">
              <a:spcAft>
                <a:spcPts val="1000"/>
              </a:spcAft>
            </a:pPr>
            <a:r>
              <a:rPr sz="1800" b="1">
                <a:solidFill>
                  <a:srgbClr val="16A34A"/>
                </a:solidFill>
                <a:latin typeface="Calibri"/>
              </a:rPr>
              <a:t>•  </a:t>
            </a:r>
            <a:r>
              <a:rPr sz="1800">
                <a:solidFill>
                  <a:srgbClr val="334155"/>
                </a:solidFill>
                <a:latin typeface="Calibri"/>
              </a:rPr>
              <a:t>The save-able window is the moment of decision, not after</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03 / 14</a:t>
            </a:r>
          </a:p>
        </p:txBody>
      </p:sp>
      <p:pic>
        <p:nvPicPr>
          <p:cNvPr id="13" name="Audio 12">
            <a:hlinkClick r:id="" action="ppaction://media"/>
            <a:extLst>
              <a:ext uri="{FF2B5EF4-FFF2-40B4-BE49-F238E27FC236}">
                <a16:creationId xmlns:a16="http://schemas.microsoft.com/office/drawing/2014/main" id="{71AB0096-3E29-8074-01B8-1B08B6C869D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7727"/>
    </mc:Choice>
    <mc:Fallback>
      <p:transition spd="slow" advTm="27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Our Solution</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LAWS</a:t>
            </a:r>
          </a:p>
        </p:txBody>
      </p:sp>
      <p:sp>
        <p:nvSpPr>
          <p:cNvPr id="5" name="Rectangle 4"/>
          <p:cNvSpPr/>
          <p:nvPr/>
        </p:nvSpPr>
        <p:spPr>
          <a:xfrm>
            <a:off x="548640" y="1097280"/>
            <a:ext cx="54864" cy="45720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Per-category budgets translated into daily spending pace.</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Monthly budgets for Food, Clothing, and other categories</a:t>
            </a:r>
          </a:p>
          <a:p>
            <a:pPr algn="l">
              <a:spcAft>
                <a:spcPts val="1000"/>
              </a:spcAft>
            </a:pPr>
            <a:r>
              <a:rPr sz="1800" b="1">
                <a:solidFill>
                  <a:srgbClr val="16A34A"/>
                </a:solidFill>
                <a:latin typeface="Calibri"/>
              </a:rPr>
              <a:t>•  </a:t>
            </a:r>
            <a:r>
              <a:rPr sz="1800">
                <a:solidFill>
                  <a:srgbClr val="334155"/>
                </a:solidFill>
                <a:latin typeface="Calibri"/>
              </a:rPr>
              <a:t>'$47 left, 2 days remaining, ~$23/day' — pace, not just balance</a:t>
            </a:r>
          </a:p>
          <a:p>
            <a:pPr algn="l">
              <a:spcAft>
                <a:spcPts val="1000"/>
              </a:spcAft>
            </a:pPr>
            <a:r>
              <a:rPr sz="1800" b="1">
                <a:solidFill>
                  <a:srgbClr val="16A34A"/>
                </a:solidFill>
                <a:latin typeface="Calibri"/>
              </a:rPr>
              <a:t>•  </a:t>
            </a:r>
            <a:r>
              <a:rPr sz="1800">
                <a:solidFill>
                  <a:srgbClr val="334155"/>
                </a:solidFill>
                <a:latin typeface="Calibri"/>
              </a:rPr>
              <a:t>Alerts surface early, before a category is already overspent</a:t>
            </a:r>
          </a:p>
          <a:p>
            <a:pPr algn="l">
              <a:spcAft>
                <a:spcPts val="1000"/>
              </a:spcAft>
            </a:pPr>
            <a:r>
              <a:rPr sz="1800" b="1">
                <a:solidFill>
                  <a:srgbClr val="16A34A"/>
                </a:solidFill>
                <a:latin typeface="Calibri"/>
              </a:rPr>
              <a:t>•  </a:t>
            </a:r>
            <a:r>
              <a:rPr sz="1800">
                <a:solidFill>
                  <a:srgbClr val="334155"/>
                </a:solidFill>
                <a:latin typeface="Calibri"/>
              </a:rPr>
              <a:t>Five sections: Dashboard · Budgets · Transactions · Alerts · Settings</a:t>
            </a:r>
          </a:p>
          <a:p>
            <a:pPr algn="l">
              <a:spcAft>
                <a:spcPts val="1000"/>
              </a:spcAft>
            </a:pPr>
            <a:r>
              <a:rPr sz="1800" b="1">
                <a:solidFill>
                  <a:srgbClr val="16A34A"/>
                </a:solidFill>
                <a:latin typeface="Calibri"/>
              </a:rPr>
              <a:t>•  </a:t>
            </a:r>
            <a:r>
              <a:rPr sz="1800">
                <a:solidFill>
                  <a:srgbClr val="334155"/>
                </a:solidFill>
                <a:latin typeface="Calibri"/>
              </a:rPr>
              <a:t>[INSERT hero screenshot of final Dashboard]</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04 / 14</a:t>
            </a:r>
          </a:p>
        </p:txBody>
      </p:sp>
      <p:pic>
        <p:nvPicPr>
          <p:cNvPr id="13" name="Audio 12">
            <a:hlinkClick r:id="" action="ppaction://media"/>
            <a:extLst>
              <a:ext uri="{FF2B5EF4-FFF2-40B4-BE49-F238E27FC236}">
                <a16:creationId xmlns:a16="http://schemas.microsoft.com/office/drawing/2014/main" id="{EE1ED01F-BB5D-2E1D-A2DE-A0D8E979CC2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3830"/>
    </mc:Choice>
    <mc:Fallback>
      <p:transition spd="slow" advTm="43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Project Origin &amp; Initial Design</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LAWS</a:t>
            </a:r>
          </a:p>
        </p:txBody>
      </p:sp>
      <p:sp>
        <p:nvSpPr>
          <p:cNvPr id="5" name="Rectangle 4"/>
          <p:cNvSpPr/>
          <p:nvPr/>
        </p:nvSpPr>
        <p:spPr>
          <a:xfrm>
            <a:off x="548640" y="1097280"/>
            <a:ext cx="54864" cy="45720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From a personal need to a testable scenario.</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Started as Laws's M3 individual: 'Design a New Consumer Software Product'</a:t>
            </a:r>
          </a:p>
          <a:p>
            <a:pPr algn="l">
              <a:spcAft>
                <a:spcPts val="1000"/>
              </a:spcAft>
            </a:pPr>
            <a:r>
              <a:rPr sz="1800" b="1">
                <a:solidFill>
                  <a:srgbClr val="16A34A"/>
                </a:solidFill>
                <a:latin typeface="Calibri"/>
              </a:rPr>
              <a:t>•  </a:t>
            </a:r>
            <a:r>
              <a:rPr sz="1800">
                <a:solidFill>
                  <a:srgbClr val="334155"/>
                </a:solidFill>
                <a:latin typeface="Calibri"/>
              </a:rPr>
              <a:t>Years of using Quicken, Mint, YNAB, Rocket Money — none real-time AND all-inclusive</a:t>
            </a:r>
          </a:p>
          <a:p>
            <a:pPr algn="l">
              <a:spcAft>
                <a:spcPts val="1000"/>
              </a:spcAft>
            </a:pPr>
            <a:r>
              <a:rPr sz="1800" b="1">
                <a:solidFill>
                  <a:srgbClr val="16A34A"/>
                </a:solidFill>
                <a:latin typeface="Calibri"/>
              </a:rPr>
              <a:t>•  </a:t>
            </a:r>
            <a:r>
              <a:rPr sz="1800">
                <a:solidFill>
                  <a:srgbClr val="334155"/>
                </a:solidFill>
                <a:latin typeface="Calibri"/>
              </a:rPr>
              <a:t>Kevin and Samana joined the concept as a group project</a:t>
            </a:r>
          </a:p>
          <a:p>
            <a:pPr algn="l">
              <a:spcAft>
                <a:spcPts val="1000"/>
              </a:spcAft>
            </a:pPr>
            <a:r>
              <a:rPr sz="1800" b="1">
                <a:solidFill>
                  <a:srgbClr val="16A34A"/>
                </a:solidFill>
                <a:latin typeface="Calibri"/>
              </a:rPr>
              <a:t>•  </a:t>
            </a:r>
            <a:r>
              <a:rPr sz="1800">
                <a:solidFill>
                  <a:srgbClr val="334155"/>
                </a:solidFill>
                <a:latin typeface="Calibri"/>
              </a:rPr>
              <a:t>Formalized into the Sarah scenario via M5 hand-drawn wireframes</a:t>
            </a:r>
          </a:p>
          <a:p>
            <a:pPr algn="l">
              <a:spcAft>
                <a:spcPts val="1000"/>
              </a:spcAft>
            </a:pPr>
            <a:r>
              <a:rPr sz="1800" b="1">
                <a:solidFill>
                  <a:srgbClr val="16A34A"/>
                </a:solidFill>
                <a:latin typeface="Calibri"/>
              </a:rPr>
              <a:t>•  </a:t>
            </a:r>
            <a:r>
              <a:rPr sz="1800">
                <a:solidFill>
                  <a:srgbClr val="334155"/>
                </a:solidFill>
                <a:latin typeface="Calibri"/>
              </a:rPr>
              <a:t>[INSERT M5 hand-drawn wireframes — Dashboard, Clothing, Food]</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05 / 14</a:t>
            </a:r>
          </a:p>
        </p:txBody>
      </p:sp>
      <p:pic>
        <p:nvPicPr>
          <p:cNvPr id="16" name="Audio 15">
            <a:hlinkClick r:id="" action="ppaction://media"/>
            <a:extLst>
              <a:ext uri="{FF2B5EF4-FFF2-40B4-BE49-F238E27FC236}">
                <a16:creationId xmlns:a16="http://schemas.microsoft.com/office/drawing/2014/main" id="{8DBBF12E-0838-CD8F-5871-6C1770F4437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70605"/>
    </mc:Choice>
    <mc:Fallback>
      <p:transition spd="slow" advTm="706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188720"/>
            <a:ext cx="5486400" cy="1828800"/>
          </a:xfrm>
          <a:prstGeom prst="rect">
            <a:avLst/>
          </a:prstGeom>
          <a:noFill/>
        </p:spPr>
        <p:txBody>
          <a:bodyPr wrap="square" lIns="0" tIns="0" rIns="0" bIns="0" anchor="t">
            <a:spAutoFit/>
          </a:bodyPr>
          <a:lstStyle/>
          <a:p>
            <a:pPr algn="l"/>
            <a:r>
              <a:rPr sz="18000" b="1">
                <a:solidFill>
                  <a:srgbClr val="FFFFFF"/>
                </a:solidFill>
                <a:latin typeface="Calibri"/>
              </a:rPr>
              <a:t>02</a:t>
            </a:r>
          </a:p>
        </p:txBody>
      </p:sp>
      <p:sp>
        <p:nvSpPr>
          <p:cNvPr id="4" name="TextBox 3"/>
          <p:cNvSpPr txBox="1"/>
          <p:nvPr/>
        </p:nvSpPr>
        <p:spPr>
          <a:xfrm>
            <a:off x="868680" y="3931920"/>
            <a:ext cx="10058400" cy="914400"/>
          </a:xfrm>
          <a:prstGeom prst="rect">
            <a:avLst/>
          </a:prstGeom>
          <a:noFill/>
        </p:spPr>
        <p:txBody>
          <a:bodyPr wrap="square" lIns="0" tIns="0" rIns="0" bIns="0" anchor="t">
            <a:spAutoFit/>
          </a:bodyPr>
          <a:lstStyle/>
          <a:p>
            <a:pPr algn="l"/>
            <a:r>
              <a:rPr sz="4400" b="1">
                <a:solidFill>
                  <a:srgbClr val="FFFFFF"/>
                </a:solidFill>
                <a:latin typeface="Calibri"/>
              </a:rPr>
              <a:t>First Budget Buddy Iterations</a:t>
            </a:r>
          </a:p>
        </p:txBody>
      </p:sp>
      <p:sp>
        <p:nvSpPr>
          <p:cNvPr id="5" name="TextBox 4"/>
          <p:cNvSpPr txBox="1"/>
          <p:nvPr/>
        </p:nvSpPr>
        <p:spPr>
          <a:xfrm>
            <a:off x="868680" y="4846320"/>
            <a:ext cx="10058400" cy="457200"/>
          </a:xfrm>
          <a:prstGeom prst="rect">
            <a:avLst/>
          </a:prstGeom>
          <a:noFill/>
        </p:spPr>
        <p:txBody>
          <a:bodyPr wrap="square" lIns="0" tIns="0" rIns="0" bIns="0" anchor="t">
            <a:spAutoFit/>
          </a:bodyPr>
          <a:lstStyle/>
          <a:p>
            <a:pPr algn="l"/>
            <a:r>
              <a:rPr sz="2000" b="0">
                <a:solidFill>
                  <a:srgbClr val="FFFFFF"/>
                </a:solidFill>
                <a:latin typeface="Calibri"/>
              </a:rPr>
              <a:t>Presented by Kevin Le</a:t>
            </a:r>
          </a:p>
        </p:txBody>
      </p:sp>
      <p:sp>
        <p:nvSpPr>
          <p:cNvPr id="6" name="TextBox 5"/>
          <p:cNvSpPr txBox="1"/>
          <p:nvPr/>
        </p:nvSpPr>
        <p:spPr>
          <a:xfrm>
            <a:off x="10515600" y="6400800"/>
            <a:ext cx="1371600" cy="365760"/>
          </a:xfrm>
          <a:prstGeom prst="rect">
            <a:avLst/>
          </a:prstGeom>
          <a:noFill/>
        </p:spPr>
        <p:txBody>
          <a:bodyPr wrap="square" lIns="0" tIns="0" rIns="0" bIns="0" anchor="t">
            <a:spAutoFit/>
          </a:bodyPr>
          <a:lstStyle/>
          <a:p>
            <a:pPr algn="r"/>
            <a:r>
              <a:rPr sz="1200" b="0">
                <a:solidFill>
                  <a:srgbClr val="FFFFFF"/>
                </a:solidFill>
                <a:latin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Iteration 2: M6 Usability Study</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KEVIN</a:t>
            </a:r>
          </a:p>
        </p:txBody>
      </p:sp>
      <p:sp>
        <p:nvSpPr>
          <p:cNvPr id="5" name="Rectangle 4"/>
          <p:cNvSpPr/>
          <p:nvPr/>
        </p:nvSpPr>
        <p:spPr>
          <a:xfrm>
            <a:off x="548640" y="1097280"/>
            <a:ext cx="54864" cy="4572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Watching real users surfaced what reviews missed.</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Converted Laws's M5 wireframes into interactive HTML (Wizard of Oz)</a:t>
            </a:r>
          </a:p>
          <a:p>
            <a:pPr algn="l">
              <a:spcAft>
                <a:spcPts val="1000"/>
              </a:spcAft>
            </a:pPr>
            <a:r>
              <a:rPr sz="1800" b="1">
                <a:solidFill>
                  <a:srgbClr val="16A34A"/>
                </a:solidFill>
                <a:latin typeface="Calibri"/>
              </a:rPr>
              <a:t>•  </a:t>
            </a:r>
            <a:r>
              <a:rPr sz="1800">
                <a:solidFill>
                  <a:srgbClr val="334155"/>
                </a:solidFill>
                <a:latin typeface="Calibri"/>
              </a:rPr>
              <a:t>Think-aloud study, 4 participants (A, B, C, D)</a:t>
            </a:r>
          </a:p>
          <a:p>
            <a:pPr algn="l">
              <a:spcAft>
                <a:spcPts val="1000"/>
              </a:spcAft>
            </a:pPr>
            <a:r>
              <a:rPr sz="1800" b="1">
                <a:solidFill>
                  <a:srgbClr val="16A34A"/>
                </a:solidFill>
                <a:latin typeface="Calibri"/>
              </a:rPr>
              <a:t>•  </a:t>
            </a:r>
            <a:r>
              <a:rPr sz="1800">
                <a:solidFill>
                  <a:srgbClr val="334155"/>
                </a:solidFill>
                <a:latin typeface="Calibri"/>
              </a:rPr>
              <a:t>5 usability issues identified — top 3 drove the M8 iteration</a:t>
            </a:r>
          </a:p>
          <a:p>
            <a:pPr algn="l">
              <a:spcAft>
                <a:spcPts val="1000"/>
              </a:spcAft>
            </a:pPr>
            <a:r>
              <a:rPr sz="1800" b="1">
                <a:solidFill>
                  <a:srgbClr val="16A34A"/>
                </a:solidFill>
                <a:latin typeface="Calibri"/>
              </a:rPr>
              <a:t>•  </a:t>
            </a:r>
            <a:r>
              <a:rPr sz="1800">
                <a:solidFill>
                  <a:srgbClr val="334155"/>
                </a:solidFill>
                <a:latin typeface="Calibri"/>
              </a:rPr>
              <a:t>No purchase preview · vague transaction labels · confusing budget creation</a:t>
            </a:r>
          </a:p>
          <a:p>
            <a:pPr algn="l">
              <a:spcAft>
                <a:spcPts val="1000"/>
              </a:spcAft>
            </a:pPr>
            <a:r>
              <a:rPr sz="1800" b="1">
                <a:solidFill>
                  <a:srgbClr val="16A34A"/>
                </a:solidFill>
                <a:latin typeface="Calibri"/>
              </a:rPr>
              <a:t>•  </a:t>
            </a:r>
            <a:r>
              <a:rPr sz="1800">
                <a:solidFill>
                  <a:srgbClr val="334155"/>
                </a:solidFill>
                <a:latin typeface="Calibri"/>
              </a:rPr>
              <a:t>[INSERT screenshot of M6 wireframe — Food Budget screen]</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07 / 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Iteration 3: M8 Interaction Iteration</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KEVIN</a:t>
            </a:r>
          </a:p>
        </p:txBody>
      </p:sp>
      <p:sp>
        <p:nvSpPr>
          <p:cNvPr id="5" name="Rectangle 4"/>
          <p:cNvSpPr/>
          <p:nvPr/>
        </p:nvSpPr>
        <p:spPr>
          <a:xfrm>
            <a:off x="548640" y="1097280"/>
            <a:ext cx="54864" cy="4572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Three usability fixes from the M6 study.</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Plan-a-Purchase preview on each budget detail screen</a:t>
            </a:r>
          </a:p>
          <a:p>
            <a:pPr algn="l">
              <a:spcAft>
                <a:spcPts val="1000"/>
              </a:spcAft>
            </a:pPr>
            <a:r>
              <a:rPr sz="1800" b="1">
                <a:solidFill>
                  <a:srgbClr val="16A34A"/>
                </a:solidFill>
                <a:latin typeface="Calibri"/>
              </a:rPr>
              <a:t>•  </a:t>
            </a:r>
            <a:r>
              <a:rPr sz="1800">
                <a:solidFill>
                  <a:srgbClr val="334155"/>
                </a:solidFill>
                <a:latin typeface="Calibri"/>
              </a:rPr>
              <a:t>Merchant-specific transaction labels (Chipotle, Starbucks, Trader Joe's)</a:t>
            </a:r>
          </a:p>
          <a:p>
            <a:pPr algn="l">
              <a:spcAft>
                <a:spcPts val="1000"/>
              </a:spcAft>
            </a:pPr>
            <a:r>
              <a:rPr sz="1800" b="1">
                <a:solidFill>
                  <a:srgbClr val="16A34A"/>
                </a:solidFill>
                <a:latin typeface="Calibri"/>
              </a:rPr>
              <a:t>•  </a:t>
            </a:r>
            <a:r>
              <a:rPr sz="1800">
                <a:solidFill>
                  <a:srgbClr val="334155"/>
                </a:solidFill>
                <a:latin typeface="Calibri"/>
              </a:rPr>
              <a:t>Clearer budget-creation flow: dollar amounts under percentages, full-width CTA</a:t>
            </a:r>
          </a:p>
          <a:p>
            <a:pPr algn="l">
              <a:spcAft>
                <a:spcPts val="1000"/>
              </a:spcAft>
            </a:pPr>
            <a:r>
              <a:rPr sz="1800" b="1">
                <a:solidFill>
                  <a:srgbClr val="16A34A"/>
                </a:solidFill>
                <a:latin typeface="Calibri"/>
              </a:rPr>
              <a:t>•  </a:t>
            </a:r>
            <a:r>
              <a:rPr sz="1800">
                <a:solidFill>
                  <a:srgbClr val="334155"/>
                </a:solidFill>
                <a:latin typeface="Calibri"/>
              </a:rPr>
              <a:t>[INSERT M8 before/after — Plan-a-Purchase preview]</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08 /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Iteration 4: M9 Interaction Critique</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KEVIN</a:t>
            </a:r>
          </a:p>
        </p:txBody>
      </p:sp>
      <p:sp>
        <p:nvSpPr>
          <p:cNvPr id="5" name="Rectangle 4"/>
          <p:cNvSpPr/>
          <p:nvPr/>
        </p:nvSpPr>
        <p:spPr>
          <a:xfrm>
            <a:off x="548640" y="1097280"/>
            <a:ext cx="54864" cy="4572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Self-critique against Site Design + Interaction + Preventing Error.</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7 weaknesses identified, each tied to a cited principle</a:t>
            </a:r>
          </a:p>
          <a:p>
            <a:pPr algn="l">
              <a:spcAft>
                <a:spcPts val="1000"/>
              </a:spcAft>
            </a:pPr>
            <a:r>
              <a:rPr sz="1800" b="1">
                <a:solidFill>
                  <a:srgbClr val="16A34A"/>
                </a:solidFill>
                <a:latin typeface="Calibri"/>
              </a:rPr>
              <a:t>•  </a:t>
            </a:r>
            <a:r>
              <a:rPr sz="1800">
                <a:solidFill>
                  <a:srgbClr val="334155"/>
                </a:solidFill>
                <a:latin typeface="Calibri"/>
              </a:rPr>
              <a:t>Active bottom-nav highlight (Krug, 'You-are-here' marker)</a:t>
            </a:r>
          </a:p>
          <a:p>
            <a:pPr algn="l">
              <a:spcAft>
                <a:spcPts val="1000"/>
              </a:spcAft>
            </a:pPr>
            <a:r>
              <a:rPr sz="1800" b="1">
                <a:solidFill>
                  <a:srgbClr val="16A34A"/>
                </a:solidFill>
                <a:latin typeface="Calibri"/>
              </a:rPr>
              <a:t>•  </a:t>
            </a:r>
            <a:r>
              <a:rPr sz="1800">
                <a:solidFill>
                  <a:srgbClr val="334155"/>
                </a:solidFill>
                <a:latin typeface="Calibri"/>
              </a:rPr>
              <a:t>Confirmation step before committing a new budget (Norman, Ch. 5)</a:t>
            </a:r>
          </a:p>
          <a:p>
            <a:pPr algn="l">
              <a:spcAft>
                <a:spcPts val="1000"/>
              </a:spcAft>
            </a:pPr>
            <a:r>
              <a:rPr sz="1800" b="1">
                <a:solidFill>
                  <a:srgbClr val="16A34A"/>
                </a:solidFill>
                <a:latin typeface="Calibri"/>
              </a:rPr>
              <a:t>•  </a:t>
            </a:r>
            <a:r>
              <a:rPr sz="1800">
                <a:solidFill>
                  <a:srgbClr val="334155"/>
                </a:solidFill>
                <a:latin typeface="Calibri"/>
              </a:rPr>
              <a:t>Daily-pace context on budget cards (visibility of system status)</a:t>
            </a:r>
          </a:p>
          <a:p>
            <a:pPr algn="l">
              <a:spcAft>
                <a:spcPts val="1000"/>
              </a:spcAft>
            </a:pPr>
            <a:r>
              <a:rPr sz="1800" b="1">
                <a:solidFill>
                  <a:srgbClr val="16A34A"/>
                </a:solidFill>
                <a:latin typeface="Calibri"/>
              </a:rPr>
              <a:t>•  </a:t>
            </a:r>
            <a:r>
              <a:rPr sz="1800">
                <a:solidFill>
                  <a:srgbClr val="334155"/>
                </a:solidFill>
                <a:latin typeface="Calibri"/>
              </a:rPr>
              <a:t>[INSERT M9 before/after — confirmation flow]</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09 / 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188720"/>
            <a:ext cx="5486400" cy="1828800"/>
          </a:xfrm>
          <a:prstGeom prst="rect">
            <a:avLst/>
          </a:prstGeom>
          <a:noFill/>
        </p:spPr>
        <p:txBody>
          <a:bodyPr wrap="square" lIns="0" tIns="0" rIns="0" bIns="0" anchor="t">
            <a:spAutoFit/>
          </a:bodyPr>
          <a:lstStyle/>
          <a:p>
            <a:pPr algn="l"/>
            <a:r>
              <a:rPr sz="18000" b="1">
                <a:solidFill>
                  <a:srgbClr val="FFFFFF"/>
                </a:solidFill>
                <a:latin typeface="Calibri"/>
              </a:rPr>
              <a:t>03</a:t>
            </a:r>
          </a:p>
        </p:txBody>
      </p:sp>
      <p:sp>
        <p:nvSpPr>
          <p:cNvPr id="4" name="TextBox 3"/>
          <p:cNvSpPr txBox="1"/>
          <p:nvPr/>
        </p:nvSpPr>
        <p:spPr>
          <a:xfrm>
            <a:off x="868680" y="3931920"/>
            <a:ext cx="10058400" cy="914400"/>
          </a:xfrm>
          <a:prstGeom prst="rect">
            <a:avLst/>
          </a:prstGeom>
          <a:noFill/>
        </p:spPr>
        <p:txBody>
          <a:bodyPr wrap="square" lIns="0" tIns="0" rIns="0" bIns="0" anchor="t">
            <a:spAutoFit/>
          </a:bodyPr>
          <a:lstStyle/>
          <a:p>
            <a:pPr algn="l"/>
            <a:r>
              <a:rPr sz="4400" b="1">
                <a:solidFill>
                  <a:srgbClr val="FFFFFF"/>
                </a:solidFill>
                <a:latin typeface="Calibri"/>
              </a:rPr>
              <a:t>Refinement &amp; Demo</a:t>
            </a:r>
          </a:p>
        </p:txBody>
      </p:sp>
      <p:sp>
        <p:nvSpPr>
          <p:cNvPr id="5" name="TextBox 4"/>
          <p:cNvSpPr txBox="1"/>
          <p:nvPr/>
        </p:nvSpPr>
        <p:spPr>
          <a:xfrm>
            <a:off x="868680" y="4846320"/>
            <a:ext cx="10058400" cy="457200"/>
          </a:xfrm>
          <a:prstGeom prst="rect">
            <a:avLst/>
          </a:prstGeom>
          <a:noFill/>
        </p:spPr>
        <p:txBody>
          <a:bodyPr wrap="square" lIns="0" tIns="0" rIns="0" bIns="0" anchor="t">
            <a:spAutoFit/>
          </a:bodyPr>
          <a:lstStyle/>
          <a:p>
            <a:pPr algn="l"/>
            <a:r>
              <a:rPr sz="2000" b="0">
                <a:solidFill>
                  <a:srgbClr val="FFFFFF"/>
                </a:solidFill>
                <a:latin typeface="Calibri"/>
              </a:rPr>
              <a:t>Presented by Samana Hussain</a:t>
            </a:r>
          </a:p>
        </p:txBody>
      </p:sp>
      <p:sp>
        <p:nvSpPr>
          <p:cNvPr id="6" name="TextBox 5"/>
          <p:cNvSpPr txBox="1"/>
          <p:nvPr/>
        </p:nvSpPr>
        <p:spPr>
          <a:xfrm>
            <a:off x="10515600" y="6400800"/>
            <a:ext cx="1371600" cy="365760"/>
          </a:xfrm>
          <a:prstGeom prst="rect">
            <a:avLst/>
          </a:prstGeom>
          <a:noFill/>
        </p:spPr>
        <p:txBody>
          <a:bodyPr wrap="square" lIns="0" tIns="0" rIns="0" bIns="0" anchor="t">
            <a:spAutoFit/>
          </a:bodyPr>
          <a:lstStyle/>
          <a:p>
            <a:pPr algn="r"/>
            <a:r>
              <a:rPr sz="1200" b="0">
                <a:solidFill>
                  <a:srgbClr val="FFFFFF"/>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Iterations 5 &amp; 6: M10 + M13</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SAMANA</a:t>
            </a:r>
          </a:p>
        </p:txBody>
      </p:sp>
      <p:sp>
        <p:nvSpPr>
          <p:cNvPr id="5" name="Rectangle 4"/>
          <p:cNvSpPr/>
          <p:nvPr/>
        </p:nvSpPr>
        <p:spPr>
          <a:xfrm>
            <a:off x="548640" y="1097280"/>
            <a:ext cx="54864" cy="45720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Sharpening interaction consistency, then visual hierarchy.</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M10: dead-end Alerts/Settings tabs, contextual Quick Actions, back-button consistency</a:t>
            </a:r>
          </a:p>
          <a:p>
            <a:pPr algn="l">
              <a:spcAft>
                <a:spcPts val="1000"/>
              </a:spcAft>
            </a:pPr>
            <a:r>
              <a:rPr sz="1800" b="1">
                <a:solidFill>
                  <a:srgbClr val="16A34A"/>
                </a:solidFill>
                <a:latin typeface="Calibri"/>
              </a:rPr>
              <a:t>•  </a:t>
            </a:r>
            <a:r>
              <a:rPr sz="1800">
                <a:solidFill>
                  <a:srgbClr val="334155"/>
                </a:solidFill>
                <a:latin typeface="Calibri"/>
              </a:rPr>
              <a:t>M10: warning when creating a duplicate-category budget</a:t>
            </a:r>
          </a:p>
          <a:p>
            <a:pPr algn="l">
              <a:spcAft>
                <a:spcPts val="1000"/>
              </a:spcAft>
            </a:pPr>
            <a:r>
              <a:rPr sz="1800" b="1">
                <a:solidFill>
                  <a:srgbClr val="16A34A"/>
                </a:solidFill>
                <a:latin typeface="Calibri"/>
              </a:rPr>
              <a:t>•  </a:t>
            </a:r>
            <a:r>
              <a:rPr sz="1800">
                <a:solidFill>
                  <a:srgbClr val="334155"/>
                </a:solidFill>
                <a:latin typeface="Calibri"/>
              </a:rPr>
              <a:t>M13: critical alerts now visually dominant (hierarchy)</a:t>
            </a:r>
          </a:p>
          <a:p>
            <a:pPr algn="l">
              <a:spcAft>
                <a:spcPts val="1000"/>
              </a:spcAft>
            </a:pPr>
            <a:r>
              <a:rPr sz="1800" b="1">
                <a:solidFill>
                  <a:srgbClr val="16A34A"/>
                </a:solidFill>
                <a:latin typeface="Calibri"/>
              </a:rPr>
              <a:t>•  </a:t>
            </a:r>
            <a:r>
              <a:rPr sz="1800">
                <a:solidFill>
                  <a:srgbClr val="334155"/>
                </a:solidFill>
                <a:latin typeface="Calibri"/>
              </a:rPr>
              <a:t>M13: budget aggregate at top, threshold indicators on donuts, severity tags on alerts</a:t>
            </a:r>
          </a:p>
          <a:p>
            <a:pPr algn="l">
              <a:spcAft>
                <a:spcPts val="1000"/>
              </a:spcAft>
            </a:pPr>
            <a:r>
              <a:rPr sz="1800" b="1">
                <a:solidFill>
                  <a:srgbClr val="16A34A"/>
                </a:solidFill>
                <a:latin typeface="Calibri"/>
              </a:rPr>
              <a:t>•  </a:t>
            </a:r>
            <a:r>
              <a:rPr sz="1800">
                <a:solidFill>
                  <a:srgbClr val="334155"/>
                </a:solidFill>
                <a:latin typeface="Calibri"/>
              </a:rPr>
              <a:t>[INSERT M13 before/after — alert visual dominance]</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11 / 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Live Demo</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SAMANA</a:t>
            </a:r>
          </a:p>
        </p:txBody>
      </p:sp>
      <p:sp>
        <p:nvSpPr>
          <p:cNvPr id="5" name="Rectangle 4"/>
          <p:cNvSpPr/>
          <p:nvPr/>
        </p:nvSpPr>
        <p:spPr>
          <a:xfrm>
            <a:off x="548640" y="1097280"/>
            <a:ext cx="54864" cy="4572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See it in action.</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[Embed MP4 — recorded screen walkthrough]</a:t>
            </a:r>
          </a:p>
          <a:p>
            <a:pPr algn="l">
              <a:spcAft>
                <a:spcPts val="1000"/>
              </a:spcAft>
            </a:pPr>
            <a:r>
              <a:rPr sz="1800" b="1">
                <a:solidFill>
                  <a:srgbClr val="16A34A"/>
                </a:solidFill>
                <a:latin typeface="Calibri"/>
              </a:rPr>
              <a:t>•  </a:t>
            </a:r>
            <a:r>
              <a:rPr sz="1800">
                <a:solidFill>
                  <a:srgbClr val="334155"/>
                </a:solidFill>
                <a:latin typeface="Calibri"/>
              </a:rPr>
              <a:t>Task 1: Check your budget before a purchase (clothing + food)</a:t>
            </a:r>
          </a:p>
          <a:p>
            <a:pPr algn="l">
              <a:spcAft>
                <a:spcPts val="1000"/>
              </a:spcAft>
            </a:pPr>
            <a:r>
              <a:rPr sz="1800" b="1">
                <a:solidFill>
                  <a:srgbClr val="16A34A"/>
                </a:solidFill>
                <a:latin typeface="Calibri"/>
              </a:rPr>
              <a:t>•  </a:t>
            </a:r>
            <a:r>
              <a:rPr sz="1800">
                <a:solidFill>
                  <a:srgbClr val="334155"/>
                </a:solidFill>
                <a:latin typeface="Calibri"/>
              </a:rPr>
              <a:t>Task 2: Create a new vacation savings budget with an alert</a:t>
            </a:r>
          </a:p>
          <a:p>
            <a:pPr algn="l">
              <a:spcAft>
                <a:spcPts val="1000"/>
              </a:spcAft>
            </a:pPr>
            <a:r>
              <a:rPr sz="1800" b="1">
                <a:solidFill>
                  <a:srgbClr val="16A34A"/>
                </a:solidFill>
                <a:latin typeface="Calibri"/>
              </a:rPr>
              <a:t>•  </a:t>
            </a:r>
            <a:r>
              <a:rPr sz="1800">
                <a:solidFill>
                  <a:srgbClr val="334155"/>
                </a:solidFill>
                <a:latin typeface="Calibri"/>
              </a:rPr>
              <a:t>Task 3: Re-categorize a miscategorized Amazon transaction</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12 / 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9144000" cy="548640"/>
          </a:xfrm>
          <a:prstGeom prst="rect">
            <a:avLst/>
          </a:prstGeom>
          <a:noFill/>
        </p:spPr>
        <p:txBody>
          <a:bodyPr wrap="square" lIns="0" tIns="0" rIns="0" bIns="0" anchor="ctr">
            <a:spAutoFit/>
          </a:bodyPr>
          <a:lstStyle/>
          <a:p>
            <a:pPr algn="l"/>
            <a:r>
              <a:rPr sz="2800" b="1">
                <a:solidFill>
                  <a:srgbClr val="FFFFFF"/>
                </a:solidFill>
                <a:latin typeface="Calibri"/>
              </a:rPr>
              <a:t>Reflection &amp; Next Steps</a:t>
            </a:r>
          </a:p>
        </p:txBody>
      </p:sp>
      <p:sp>
        <p:nvSpPr>
          <p:cNvPr id="4" name="TextBox 3"/>
          <p:cNvSpPr txBox="1"/>
          <p:nvPr/>
        </p:nvSpPr>
        <p:spPr>
          <a:xfrm>
            <a:off x="10332720" y="164592"/>
            <a:ext cx="1737360" cy="548640"/>
          </a:xfrm>
          <a:prstGeom prst="rect">
            <a:avLst/>
          </a:prstGeom>
          <a:noFill/>
        </p:spPr>
        <p:txBody>
          <a:bodyPr wrap="square" lIns="0" tIns="0" rIns="0" bIns="0" anchor="ctr">
            <a:spAutoFit/>
          </a:bodyPr>
          <a:lstStyle/>
          <a:p>
            <a:pPr algn="r"/>
            <a:r>
              <a:rPr sz="1200" b="1">
                <a:solidFill>
                  <a:srgbClr val="FFFFFF"/>
                </a:solidFill>
                <a:latin typeface="Calibri"/>
              </a:rPr>
              <a:t>SAMANA</a:t>
            </a:r>
          </a:p>
        </p:txBody>
      </p:sp>
      <p:sp>
        <p:nvSpPr>
          <p:cNvPr id="5" name="Rectangle 4"/>
          <p:cNvSpPr/>
          <p:nvPr/>
        </p:nvSpPr>
        <p:spPr>
          <a:xfrm>
            <a:off x="548640" y="1097280"/>
            <a:ext cx="54864" cy="45720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97280"/>
            <a:ext cx="10789920" cy="640080"/>
          </a:xfrm>
          <a:prstGeom prst="rect">
            <a:avLst/>
          </a:prstGeom>
          <a:noFill/>
        </p:spPr>
        <p:txBody>
          <a:bodyPr wrap="square" lIns="0" tIns="0" rIns="0" bIns="0" anchor="t">
            <a:spAutoFit/>
          </a:bodyPr>
          <a:lstStyle/>
          <a:p>
            <a:pPr algn="l"/>
            <a:r>
              <a:rPr sz="2000" b="1">
                <a:solidFill>
                  <a:srgbClr val="0F172A"/>
                </a:solidFill>
                <a:latin typeface="Calibri"/>
              </a:rPr>
              <a:t>What we learned · what we'd build next.</a:t>
            </a:r>
          </a:p>
        </p:txBody>
      </p:sp>
      <p:sp>
        <p:nvSpPr>
          <p:cNvPr id="7" name="TextBox 6"/>
          <p:cNvSpPr txBox="1"/>
          <p:nvPr/>
        </p:nvSpPr>
        <p:spPr>
          <a:xfrm>
            <a:off x="777240" y="1828800"/>
            <a:ext cx="10789920" cy="4754880"/>
          </a:xfrm>
          <a:prstGeom prst="rect">
            <a:avLst/>
          </a:prstGeom>
          <a:noFill/>
        </p:spPr>
        <p:txBody>
          <a:bodyPr wrap="square" lIns="45720" rIns="45720">
            <a:spAutoFit/>
          </a:bodyPr>
          <a:lstStyle/>
          <a:p>
            <a:pPr algn="l">
              <a:spcAft>
                <a:spcPts val="1000"/>
              </a:spcAft>
            </a:pPr>
            <a:r>
              <a:rPr sz="1800" b="1">
                <a:solidFill>
                  <a:srgbClr val="16A34A"/>
                </a:solidFill>
                <a:latin typeface="Calibri"/>
              </a:rPr>
              <a:t>•  </a:t>
            </a:r>
            <a:r>
              <a:rPr sz="1800">
                <a:solidFill>
                  <a:srgbClr val="334155"/>
                </a:solidFill>
                <a:latin typeface="Calibri"/>
              </a:rPr>
              <a:t>Outside frameworks beat team intuition — every cycle</a:t>
            </a:r>
          </a:p>
          <a:p>
            <a:pPr algn="l">
              <a:spcAft>
                <a:spcPts val="1000"/>
              </a:spcAft>
            </a:pPr>
            <a:r>
              <a:rPr sz="1800" b="1">
                <a:solidFill>
                  <a:srgbClr val="16A34A"/>
                </a:solidFill>
                <a:latin typeface="Calibri"/>
              </a:rPr>
              <a:t>•  </a:t>
            </a:r>
            <a:r>
              <a:rPr sz="1800">
                <a:solidFill>
                  <a:srgbClr val="334155"/>
                </a:solidFill>
                <a:latin typeface="Calibri"/>
              </a:rPr>
              <a:t>Visual design is where perceived quality lives</a:t>
            </a:r>
          </a:p>
          <a:p>
            <a:pPr algn="l">
              <a:spcAft>
                <a:spcPts val="1000"/>
              </a:spcAft>
            </a:pPr>
            <a:r>
              <a:rPr sz="1800" b="1">
                <a:solidFill>
                  <a:srgbClr val="16A34A"/>
                </a:solidFill>
                <a:latin typeface="Calibri"/>
              </a:rPr>
              <a:t>•  </a:t>
            </a:r>
            <a:r>
              <a:rPr sz="1800">
                <a:solidFill>
                  <a:srgbClr val="334155"/>
                </a:solidFill>
                <a:latin typeface="Calibri"/>
              </a:rPr>
              <a:t>Next: real data via Plaid · predictive alerts · accessibility audit</a:t>
            </a:r>
          </a:p>
          <a:p>
            <a:pPr algn="l">
              <a:spcAft>
                <a:spcPts val="1000"/>
              </a:spcAft>
            </a:pPr>
            <a:r>
              <a:rPr sz="1800" b="1">
                <a:solidFill>
                  <a:srgbClr val="16A34A"/>
                </a:solidFill>
                <a:latin typeface="Calibri"/>
              </a:rPr>
              <a:t>•  </a:t>
            </a:r>
            <a:r>
              <a:rPr sz="1800">
                <a:solidFill>
                  <a:srgbClr val="334155"/>
                </a:solidFill>
                <a:latin typeface="Calibri"/>
              </a:rPr>
              <a:t>Bigger gap: dedicated needfinding before scaling the design</a:t>
            </a:r>
          </a:p>
        </p:txBody>
      </p:sp>
      <p:sp>
        <p:nvSpPr>
          <p:cNvPr id="8" name="Rectangle 7"/>
          <p:cNvSpPr/>
          <p:nvPr/>
        </p:nvSpPr>
        <p:spPr>
          <a:xfrm>
            <a:off x="0" y="6446520"/>
            <a:ext cx="12191695" cy="411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19672"/>
            <a:ext cx="7315200" cy="274320"/>
          </a:xfrm>
          <a:prstGeom prst="rect">
            <a:avLst/>
          </a:prstGeom>
          <a:noFill/>
        </p:spPr>
        <p:txBody>
          <a:bodyPr wrap="square" lIns="0" tIns="0" rIns="0" bIns="0" anchor="t">
            <a:spAutoFit/>
          </a:bodyPr>
          <a:lstStyle/>
          <a:p>
            <a:pPr algn="l"/>
            <a:r>
              <a:rPr sz="1000" b="0">
                <a:solidFill>
                  <a:srgbClr val="64748B"/>
                </a:solidFill>
                <a:latin typeface="Calibri"/>
              </a:rPr>
              <a:t>Budget Buddy  ·  SWE 632 Final Presentation</a:t>
            </a:r>
          </a:p>
        </p:txBody>
      </p:sp>
      <p:sp>
        <p:nvSpPr>
          <p:cNvPr id="10" name="TextBox 9"/>
          <p:cNvSpPr txBox="1"/>
          <p:nvPr/>
        </p:nvSpPr>
        <p:spPr>
          <a:xfrm>
            <a:off x="10058400" y="6519672"/>
            <a:ext cx="1828800" cy="274320"/>
          </a:xfrm>
          <a:prstGeom prst="rect">
            <a:avLst/>
          </a:prstGeom>
          <a:noFill/>
        </p:spPr>
        <p:txBody>
          <a:bodyPr wrap="square" lIns="0" tIns="0" rIns="0" bIns="0" anchor="t">
            <a:spAutoFit/>
          </a:bodyPr>
          <a:lstStyle/>
          <a:p>
            <a:pPr algn="r"/>
            <a:r>
              <a:rPr sz="1000" b="0">
                <a:solidFill>
                  <a:srgbClr val="64748B"/>
                </a:solidFill>
                <a:latin typeface="Calibri"/>
              </a:rPr>
              <a:t>13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94560"/>
            <a:ext cx="164592" cy="18288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03120"/>
            <a:ext cx="10058400" cy="1097280"/>
          </a:xfrm>
          <a:prstGeom prst="rect">
            <a:avLst/>
          </a:prstGeom>
          <a:noFill/>
        </p:spPr>
        <p:txBody>
          <a:bodyPr wrap="square" lIns="0" tIns="0" rIns="0" bIns="0" anchor="t">
            <a:spAutoFit/>
          </a:bodyPr>
          <a:lstStyle/>
          <a:p>
            <a:pPr algn="l"/>
            <a:r>
              <a:rPr sz="7200" b="1">
                <a:solidFill>
                  <a:srgbClr val="FFFFFF"/>
                </a:solidFill>
                <a:latin typeface="Calibri"/>
              </a:rPr>
              <a:t>Thank you.</a:t>
            </a:r>
          </a:p>
        </p:txBody>
      </p:sp>
      <p:sp>
        <p:nvSpPr>
          <p:cNvPr id="5" name="TextBox 4"/>
          <p:cNvSpPr txBox="1"/>
          <p:nvPr/>
        </p:nvSpPr>
        <p:spPr>
          <a:xfrm>
            <a:off x="1188720" y="3474720"/>
            <a:ext cx="10058400" cy="548640"/>
          </a:xfrm>
          <a:prstGeom prst="rect">
            <a:avLst/>
          </a:prstGeom>
          <a:noFill/>
        </p:spPr>
        <p:txBody>
          <a:bodyPr wrap="square" lIns="0" tIns="0" rIns="0" bIns="0" anchor="t">
            <a:spAutoFit/>
          </a:bodyPr>
          <a:lstStyle/>
          <a:p>
            <a:pPr algn="l"/>
            <a:r>
              <a:rPr sz="2800" b="0">
                <a:solidFill>
                  <a:srgbClr val="CBD5E1"/>
                </a:solidFill>
                <a:latin typeface="Calibri"/>
              </a:rPr>
              <a:t>Questions?</a:t>
            </a:r>
          </a:p>
        </p:txBody>
      </p:sp>
      <p:sp>
        <p:nvSpPr>
          <p:cNvPr id="6" name="TextBox 5"/>
          <p:cNvSpPr txBox="1"/>
          <p:nvPr/>
        </p:nvSpPr>
        <p:spPr>
          <a:xfrm>
            <a:off x="1188720" y="4572000"/>
            <a:ext cx="10058400" cy="365760"/>
          </a:xfrm>
          <a:prstGeom prst="rect">
            <a:avLst/>
          </a:prstGeom>
          <a:noFill/>
        </p:spPr>
        <p:txBody>
          <a:bodyPr wrap="square" lIns="0" tIns="0" rIns="0" bIns="0" anchor="t">
            <a:spAutoFit/>
          </a:bodyPr>
          <a:lstStyle/>
          <a:p>
            <a:pPr algn="l"/>
            <a:r>
              <a:rPr sz="1800" b="0">
                <a:solidFill>
                  <a:srgbClr val="CBD5E1"/>
                </a:solidFill>
                <a:latin typeface="Calibri"/>
              </a:rPr>
              <a:t>Laws Smith   ·   Kevin Le   ·   Samana Hussain</a:t>
            </a:r>
          </a:p>
        </p:txBody>
      </p:sp>
      <p:sp>
        <p:nvSpPr>
          <p:cNvPr id="7" name="TextBox 6"/>
          <p:cNvSpPr txBox="1"/>
          <p:nvPr/>
        </p:nvSpPr>
        <p:spPr>
          <a:xfrm>
            <a:off x="10515600" y="6400800"/>
            <a:ext cx="1371600" cy="365760"/>
          </a:xfrm>
          <a:prstGeom prst="rect">
            <a:avLst/>
          </a:prstGeom>
          <a:noFill/>
        </p:spPr>
        <p:txBody>
          <a:bodyPr wrap="square" lIns="0" tIns="0" rIns="0" bIns="0" anchor="t">
            <a:spAutoFit/>
          </a:bodyPr>
          <a:lstStyle/>
          <a:p>
            <a:pPr algn="r"/>
            <a:r>
              <a:rPr sz="1200" b="0">
                <a:solidFill>
                  <a:srgbClr val="64748B"/>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1668</Words>
  <Application>Microsoft Office PowerPoint</Application>
  <PresentationFormat>Widescreen</PresentationFormat>
  <Paragraphs>129</Paragraphs>
  <Slides>14</Slides>
  <Notes>11</Notes>
  <HiddenSlides>0</HiddenSlides>
  <MMClips>4</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Lawson Smith</cp:lastModifiedBy>
  <cp:revision>2</cp:revision>
  <dcterms:created xsi:type="dcterms:W3CDTF">2013-01-27T09:14:16Z</dcterms:created>
  <dcterms:modified xsi:type="dcterms:W3CDTF">2026-04-29T00:56:06Z</dcterms:modified>
  <cp:category/>
</cp:coreProperties>
</file>